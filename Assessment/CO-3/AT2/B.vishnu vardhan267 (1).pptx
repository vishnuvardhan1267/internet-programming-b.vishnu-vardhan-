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68BFDB-7719-451E-8EDF-D7DC6465EF3A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40F64-7BA9-43C5-9C83-97E6C5EC65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712F6-4A99-4115-A723-05E58EA569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D2D93D-3CBB-4797-B312-309407BBFB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20E2A-5B31-4131-AA2F-7FBBB6585E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F3EAC9-BDF3-4335-923E-C2833348EA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22960" y="19659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97" strike="noStrike">
                <a:solidFill>
                  <a:srgbClr val="ffffff"/>
                </a:solidFill>
                <a:latin typeface="Cambria"/>
                <a:ea typeface="Cambria"/>
              </a:rPr>
              <a:t>SESSION TRACKING TECHNIQUES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27889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2c39a"/>
                </a:solidFill>
                <a:latin typeface="Calibri"/>
                <a:ea typeface="Calibri"/>
              </a:rPr>
              <a:t>HttpSession  ·  Cookies  ·  URL Rewriting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3246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9c4c4"/>
                </a:solidFill>
                <a:latin typeface="Calibri"/>
                <a:ea typeface="Calibri"/>
              </a:rPr>
              <a:t>Comparing mechanisms, persistence, and security trade-offs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4160520"/>
            <a:ext cx="776880" cy="776880"/>
          </a:xfrm>
          <a:prstGeom prst="ellipse">
            <a:avLst/>
          </a:prstGeom>
          <a:solidFill>
            <a:srgbClr val="0b41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0" descr="/home/claude/pptx_work/server_FFFFFF.png"/>
          <p:cNvPicPr/>
          <p:nvPr/>
        </p:nvPicPr>
        <p:blipFill>
          <a:blip r:embed="rId1"/>
          <a:stretch/>
        </p:blipFill>
        <p:spPr>
          <a:xfrm>
            <a:off x="1024920" y="43624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3" name="Text 4"/>
          <p:cNvSpPr/>
          <p:nvPr/>
        </p:nvSpPr>
        <p:spPr>
          <a:xfrm>
            <a:off x="457200" y="502920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HttpSession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4023360" y="4160520"/>
            <a:ext cx="776880" cy="776880"/>
          </a:xfrm>
          <a:prstGeom prst="ellipse">
            <a:avLst/>
          </a:prstGeom>
          <a:solidFill>
            <a:srgbClr val="0b41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Image 1" descr="/home/claude/pptx_work/globe_FFFFFF.png"/>
          <p:cNvPicPr/>
          <p:nvPr/>
        </p:nvPicPr>
        <p:blipFill>
          <a:blip r:embed="rId2"/>
          <a:stretch/>
        </p:blipFill>
        <p:spPr>
          <a:xfrm>
            <a:off x="4225320" y="43624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6" name="Text 6"/>
          <p:cNvSpPr/>
          <p:nvPr/>
        </p:nvSpPr>
        <p:spPr>
          <a:xfrm>
            <a:off x="3657600" y="502920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Cookies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223760" y="4160520"/>
            <a:ext cx="776880" cy="776880"/>
          </a:xfrm>
          <a:prstGeom prst="ellipse">
            <a:avLst/>
          </a:prstGeom>
          <a:solidFill>
            <a:srgbClr val="0b41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2" descr="/home/claude/pptx_work/link_FFFFFF.png"/>
          <p:cNvPicPr/>
          <p:nvPr/>
        </p:nvPicPr>
        <p:blipFill>
          <a:blip r:embed="rId3"/>
          <a:stretch/>
        </p:blipFill>
        <p:spPr>
          <a:xfrm>
            <a:off x="7425720" y="43624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9" name="Text 8"/>
          <p:cNvSpPr/>
          <p:nvPr/>
        </p:nvSpPr>
        <p:spPr>
          <a:xfrm>
            <a:off x="6858000" y="502920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URL Rewriting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822960" y="6263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a3a3"/>
                </a:solidFill>
                <a:latin typeface="Calibri"/>
                <a:ea typeface="Calibri"/>
              </a:rPr>
              <a:t>Web Application Session Management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180000" y="5760000"/>
            <a:ext cx="288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B.Vishnu vardhan </a:t>
            </a:r>
            <a:br>
              <a:rPr sz="1800"/>
            </a:b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192311267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Image 0" descr="/home/claude/pptx_work/server_FFFFFF.png"/>
          <p:cNvPicPr/>
          <p:nvPr/>
        </p:nvPicPr>
        <p:blipFill>
          <a:blip r:embed="rId1"/>
          <a:stretch/>
        </p:blipFill>
        <p:spPr>
          <a:xfrm>
            <a:off x="623520" y="6235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4" name="Text 1"/>
          <p:cNvSpPr/>
          <p:nvPr/>
        </p:nvSpPr>
        <p:spPr>
          <a:xfrm>
            <a:off x="12344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b2b"/>
                </a:solidFill>
                <a:latin typeface="Cambria"/>
                <a:ea typeface="Cambria"/>
              </a:rPr>
              <a:t>HttpSession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234440" y="9144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e6e"/>
                </a:solidFill>
                <a:latin typeface="Calibri"/>
                <a:ea typeface="Calibri"/>
              </a:rPr>
              <a:t>Server-side storage referenced by a session identifier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600200"/>
            <a:ext cx="456840" cy="456840"/>
          </a:xfrm>
          <a:prstGeom prst="ellipse">
            <a:avLst/>
          </a:prstGeom>
          <a:solidFill>
            <a:srgbClr val="f3f7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1" descr="/home/claude/pptx_work/database_028090.png"/>
          <p:cNvPicPr/>
          <p:nvPr/>
        </p:nvPicPr>
        <p:blipFill>
          <a:blip r:embed="rId2"/>
          <a:stretch/>
        </p:blipFill>
        <p:spPr>
          <a:xfrm>
            <a:off x="667440" y="1719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8" name="Text 4"/>
          <p:cNvSpPr/>
          <p:nvPr/>
        </p:nvSpPr>
        <p:spPr>
          <a:xfrm>
            <a:off x="1234440" y="15728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Calibri"/>
              </a:rPr>
              <a:t>Mechanism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234440" y="194760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The server creates a session object keyed by a unique ID; the ID is handed to the client via a cookie (JSESSIONID) or URL parameter, while the actual data stays server-side.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548640" y="3017520"/>
            <a:ext cx="456840" cy="456840"/>
          </a:xfrm>
          <a:prstGeom prst="ellipse">
            <a:avLst/>
          </a:prstGeom>
          <a:solidFill>
            <a:srgbClr val="f3f7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Image 2" descr="/home/claude/pptx_work/check_028090.png"/>
          <p:cNvPicPr/>
          <p:nvPr/>
        </p:nvPicPr>
        <p:blipFill>
          <a:blip r:embed="rId3"/>
          <a:stretch/>
        </p:blipFill>
        <p:spPr>
          <a:xfrm>
            <a:off x="667440" y="31363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2" name="Text 7"/>
          <p:cNvSpPr/>
          <p:nvPr/>
        </p:nvSpPr>
        <p:spPr>
          <a:xfrm>
            <a:off x="1234440" y="29901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Calibri"/>
              </a:rPr>
              <a:t>Persistence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1234440" y="336492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Lives in server memory until timeout or invalidation. Lost on server restart unless backed by a database or replicated across a cluster with sticky sessions.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548640" y="4434840"/>
            <a:ext cx="456840" cy="456840"/>
          </a:xfrm>
          <a:prstGeom prst="ellipse">
            <a:avLst/>
          </a:prstGeom>
          <a:solidFill>
            <a:srgbClr val="f3f7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3" descr="/home/claude/pptx_work/shield_028090.png"/>
          <p:cNvPicPr/>
          <p:nvPr/>
        </p:nvPicPr>
        <p:blipFill>
          <a:blip r:embed="rId4"/>
          <a:stretch/>
        </p:blipFill>
        <p:spPr>
          <a:xfrm>
            <a:off x="667440" y="4553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6" name="Text 10"/>
          <p:cNvSpPr/>
          <p:nvPr/>
        </p:nvSpPr>
        <p:spPr>
          <a:xfrm>
            <a:off x="1234440" y="4407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Calibri"/>
              </a:rPr>
              <a:t>Security Concerns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1234440" y="478224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Data itself never leaves the server, but the session ID can be hijacked or fixated if not paired with HttpOnly/Secure cookies and ID regeneration after login.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Session Tracking Mechanisms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0" descr="/home/claude/pptx_work/globe_FFFFFF.png"/>
          <p:cNvPicPr/>
          <p:nvPr/>
        </p:nvPicPr>
        <p:blipFill>
          <a:blip r:embed="rId1"/>
          <a:stretch/>
        </p:blipFill>
        <p:spPr>
          <a:xfrm>
            <a:off x="623520" y="6235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2" name="Text 1"/>
          <p:cNvSpPr/>
          <p:nvPr/>
        </p:nvSpPr>
        <p:spPr>
          <a:xfrm>
            <a:off x="12344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b2b"/>
                </a:solidFill>
                <a:latin typeface="Cambria"/>
                <a:ea typeface="Cambria"/>
              </a:rPr>
              <a:t>Cookies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1234440" y="9144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e6e"/>
                </a:solidFill>
                <a:latin typeface="Calibri"/>
                <a:ea typeface="Calibri"/>
              </a:rPr>
              <a:t>Small key-value data stored and returned by the client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457200" y="1600200"/>
            <a:ext cx="5577480" cy="4571640"/>
          </a:xfrm>
          <a:prstGeom prst="roundRect">
            <a:avLst>
              <a:gd name="adj" fmla="val 1600"/>
            </a:avLst>
          </a:prstGeom>
          <a:solidFill>
            <a:srgbClr val="f3f7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731520" y="17830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libri"/>
                <a:ea typeface="Calibri"/>
              </a:rPr>
              <a:t>How It Works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731520" y="2148840"/>
            <a:ext cx="5028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A cookie is a small piece of data (name/value pair, up to ~4KB) set by the server via a Set-Cookie header and stored in the browser. It is then attached automatically to every subsequent request to the same domain.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731520" y="34290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96"/>
                </a:solidFill>
                <a:latin typeface="Calibri"/>
                <a:ea typeface="Calibri"/>
              </a:rPr>
              <a:t>Persistence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731520" y="379476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Session cookies vanish when the browser closes; persistent cookies carry an explicit Expires/Max-Age and survive across browser restarts, days, or months.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731520" y="49377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c39a"/>
                </a:solidFill>
                <a:latin typeface="Cambria"/>
                <a:ea typeface="Cambria"/>
              </a:rPr>
              <a:t>60-70%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731520" y="544068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6e6e"/>
                </a:solidFill>
                <a:latin typeface="Calibri"/>
                <a:ea typeface="Calibri"/>
              </a:rPr>
              <a:t>of session-tracking implementations rely on cookies as the transport for the session ID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6263640" y="1600200"/>
            <a:ext cx="5486040" cy="4571640"/>
          </a:xfrm>
          <a:prstGeom prst="roundRect">
            <a:avLst>
              <a:gd name="adj" fmla="val 1600"/>
            </a:avLst>
          </a:prstGeom>
          <a:solidFill>
            <a:srgbClr val="fdf3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6537960" y="17830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0392b"/>
                </a:solidFill>
                <a:latin typeface="Calibri"/>
                <a:ea typeface="Calibri"/>
              </a:rPr>
              <a:t>Security Concerns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6537960" y="2194560"/>
            <a:ext cx="310680" cy="3106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 1" descr="/home/claude/pptx_work/alert_C0392B.png"/>
          <p:cNvPicPr/>
          <p:nvPr/>
        </p:nvPicPr>
        <p:blipFill>
          <a:blip r:embed="rId2"/>
          <a:stretch/>
        </p:blipFill>
        <p:spPr>
          <a:xfrm>
            <a:off x="6618960" y="227556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55" name="Text 13"/>
          <p:cNvSpPr/>
          <p:nvPr/>
        </p:nvSpPr>
        <p:spPr>
          <a:xfrm>
            <a:off x="6995160" y="213984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b2b2b"/>
                </a:solidFill>
                <a:latin typeface="Calibri"/>
                <a:ea typeface="Calibri"/>
              </a:rPr>
              <a:t>Readable/editable on the client unless encrypted — don't store sensitive data in plain form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6537960" y="2944440"/>
            <a:ext cx="310680" cy="3106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2" descr="/home/claude/pptx_work/alert_C0392B.png"/>
          <p:cNvPicPr/>
          <p:nvPr/>
        </p:nvPicPr>
        <p:blipFill>
          <a:blip r:embed="rId3"/>
          <a:stretch/>
        </p:blipFill>
        <p:spPr>
          <a:xfrm>
            <a:off x="6618960" y="302508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58" name="Text 15"/>
          <p:cNvSpPr/>
          <p:nvPr/>
        </p:nvSpPr>
        <p:spPr>
          <a:xfrm>
            <a:off x="6995160" y="288936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b2b2b"/>
                </a:solidFill>
                <a:latin typeface="Calibri"/>
                <a:ea typeface="Calibri"/>
              </a:rPr>
              <a:t>Vulnerable to theft via XSS if the HttpOnly flag is not set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6537960" y="3694320"/>
            <a:ext cx="310680" cy="3106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3" descr="/home/claude/pptx_work/alert_C0392B.png"/>
          <p:cNvPicPr/>
          <p:nvPr/>
        </p:nvPicPr>
        <p:blipFill>
          <a:blip r:embed="rId4"/>
          <a:stretch/>
        </p:blipFill>
        <p:spPr>
          <a:xfrm>
            <a:off x="6618960" y="377496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61" name="Text 17"/>
          <p:cNvSpPr/>
          <p:nvPr/>
        </p:nvSpPr>
        <p:spPr>
          <a:xfrm>
            <a:off x="6995160" y="363924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b2b2b"/>
                </a:solidFill>
                <a:latin typeface="Calibri"/>
                <a:ea typeface="Calibri"/>
              </a:rPr>
              <a:t>Can be intercepted over plain HTTP without the Secure flag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6537960" y="4443840"/>
            <a:ext cx="310680" cy="3106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4" descr="/home/claude/pptx_work/alert_C0392B.png"/>
          <p:cNvPicPr/>
          <p:nvPr/>
        </p:nvPicPr>
        <p:blipFill>
          <a:blip r:embed="rId5"/>
          <a:stretch/>
        </p:blipFill>
        <p:spPr>
          <a:xfrm>
            <a:off x="6618960" y="452484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64" name="Text 19"/>
          <p:cNvSpPr/>
          <p:nvPr/>
        </p:nvSpPr>
        <p:spPr>
          <a:xfrm>
            <a:off x="6995160" y="438912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b2b2b"/>
                </a:solidFill>
                <a:latin typeface="Calibri"/>
                <a:ea typeface="Calibri"/>
              </a:rPr>
              <a:t>Exposes the app to CSRF unless SameSite is configured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0"/>
          <p:cNvSpPr/>
          <p:nvPr/>
        </p:nvSpPr>
        <p:spPr>
          <a:xfrm>
            <a:off x="6537960" y="5440680"/>
            <a:ext cx="4937400" cy="594000"/>
          </a:xfrm>
          <a:prstGeom prst="roundRect">
            <a:avLst>
              <a:gd name="adj" fmla="val 9231"/>
            </a:avLst>
          </a:prstGeom>
          <a:solidFill>
            <a:srgbClr val="e4f7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6675120" y="545904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c5c4c"/>
                </a:solidFill>
                <a:latin typeface="Calibri"/>
                <a:ea typeface="Calibri"/>
              </a:rPr>
              <a:t>Advantage: simple, lightweight, and needs no server-side storage for small pieces of data.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Session Tracking Mechanisms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0" descr="/home/claude/pptx_work/link_FFFFFF.png"/>
          <p:cNvPicPr/>
          <p:nvPr/>
        </p:nvPicPr>
        <p:blipFill>
          <a:blip r:embed="rId1"/>
          <a:stretch/>
        </p:blipFill>
        <p:spPr>
          <a:xfrm>
            <a:off x="623520" y="6235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71" name="Text 1"/>
          <p:cNvSpPr/>
          <p:nvPr/>
        </p:nvSpPr>
        <p:spPr>
          <a:xfrm>
            <a:off x="1234440" y="4572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b2b"/>
                </a:solidFill>
                <a:latin typeface="Cambria"/>
                <a:ea typeface="Cambria"/>
              </a:rPr>
              <a:t>URL Rewriting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234440" y="9144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e6e"/>
                </a:solidFill>
                <a:latin typeface="Calibri"/>
                <a:ea typeface="Calibri"/>
              </a:rPr>
              <a:t>Embedding the session ID directly in the link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57200" y="169164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Mechanism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57200" y="2057400"/>
            <a:ext cx="6126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Every internal link and form action is rewritten to append the session ID as a query parameter (e.g. /page;jsessionid=A1B2C3). The server reads it back from the URL instead of a cookie — the fallback used when cookies are disabled.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57200" y="333756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Persistence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57200" y="3703320"/>
            <a:ext cx="6126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Fragile by nature: the session survives only through links the app itself rewrote. A bookmarked, copy-pasted, or externally shared URL silently drops or leaks the identifier.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470916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Security Concerns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457200" y="5074920"/>
            <a:ext cx="6126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b2b"/>
                </a:solidFill>
                <a:latin typeface="Calibri"/>
                <a:ea typeface="Calibri"/>
              </a:rPr>
              <a:t>The most exposed option — session IDs end up in browser history, server access logs, and the Referer header of any outbound link, making leakage far easier than with cookies.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7498080" y="0"/>
            <a:ext cx="4690440" cy="68576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7863840" y="237744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LEAST SECURE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OF THE THREE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7863840" y="3566160"/>
            <a:ext cx="3931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4fbf3"/>
                </a:solidFill>
                <a:latin typeface="Calibri"/>
                <a:ea typeface="Calibri"/>
              </a:rPr>
              <a:t>Session IDs travel in plain sight — visible in the address bar, saved in history, and copyable by anyone the link is shared with.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7863840" y="57607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d7f5ea"/>
                </a:solidFill>
                <a:latin typeface="Calibri"/>
                <a:ea typeface="Calibri"/>
              </a:rPr>
              <a:t>Use only as a fallback when cookies are unavailable.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Session Tracking Mechanisms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4572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b2b"/>
                </a:solidFill>
                <a:latin typeface="Cambria"/>
                <a:ea typeface="Cambria"/>
              </a:rPr>
              <a:t>Use-Case Comparison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57200" y="960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e6e"/>
                </a:solidFill>
                <a:latin typeface="Calibri"/>
                <a:ea typeface="Calibri"/>
              </a:rPr>
              <a:t>Matching each mechanism to persistence and security needs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7" name="Table 0"/>
          <p:cNvGraphicFramePr/>
          <p:nvPr/>
        </p:nvGraphicFramePr>
        <p:xfrm>
          <a:off x="457200" y="1554480"/>
          <a:ext cx="1127412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91840"/>
                <a:gridCol w="2953440"/>
              </a:tblGrid>
              <a:tr h="1051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Technique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Persistence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Security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Best Use Case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1051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HttpSession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f1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Server-controlled; lasts until timeout or invalidation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Strong when the session ID is protected (HttpOnly, Secure, ID regeneration)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Sensitive data — login state, shopping carts, multi-step forms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  <a:tr h="1051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Cookies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f1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Client-controlled — session-only or persistent via expiry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Moderate — needs HttpOnly, Secure, and SameSite to stay safe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Preferences, “remember me”, lightweight client-side tracking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  <a:tr h="1051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URL Rewriting</a:t>
                      </a:r>
                      <a:endParaRPr b="0" lang="en-IN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f1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Fragile — holds only while rewritten links are followed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Weak — exposed in logs, history, and Referer headers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b2b2b"/>
                          </a:solidFill>
                          <a:latin typeface="Calibri"/>
                          <a:ea typeface="Calibri"/>
                        </a:rPr>
                        <a:t>Fallback only, when the browser has cookies disabled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</a:tbl>
          </a:graphicData>
        </a:graphic>
      </p:graphicFrame>
      <p:sp>
        <p:nvSpPr>
          <p:cNvPr id="88" name="Text 2"/>
          <p:cNvSpPr/>
          <p:nvPr/>
        </p:nvSpPr>
        <p:spPr>
          <a:xfrm>
            <a:off x="457200" y="598932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e6e"/>
                </a:solidFill>
                <a:latin typeface="Calibri"/>
                <a:ea typeface="Calibri"/>
              </a:rPr>
              <a:t>Takeaway: prefer HttpSession for sensitive server-side state, cookies for lightweight client data, and reserve URL rewriting for cookie-disabled fallback only.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45720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Session Tracking Mechanisms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e6e"/>
                </a:solidFill>
                <a:latin typeface="Calibri"/>
                <a:ea typeface="Calibri"/>
              </a:rPr>
              <a:t>5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PPT_Plus/1.0.0.0$Windows_X86_64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2026-08-13T07:54:29Z</dcterms:created>
  <dc:creator>PptxGenJS</dc:creator>
  <dc:description/>
  <dc:language>en-IN</dc:language>
  <cp:lastModifiedBy/>
  <dcterms:modified xsi:type="dcterms:W3CDTF">2026-08-13T13:32:33Z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